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92040" y="0"/>
            <a:ext cx="411480" cy="5143500"/>
          </a:xfrm>
          <a:prstGeom prst="rect">
            <a:avLst/>
          </a:prstGeom>
          <a:solidFill>
            <a:srgbClr val="1E3D20">
              <a:alpha val="75000"/>
            </a:srgbClr>
          </a:solidFill>
          <a:ln w="12700">
            <a:solidFill>
              <a:srgbClr val="1E3D2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SEPP  ·  COURSE PROJECT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10515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GreenClaim AI</a:t>
            </a:r>
            <a:endParaRPr lang="en-US" sz="4700" dirty="0"/>
          </a:p>
        </p:txBody>
      </p:sp>
      <p:sp>
        <p:nvSpPr>
          <p:cNvPr id="6" name="Text 3"/>
          <p:cNvSpPr/>
          <p:nvPr/>
        </p:nvSpPr>
        <p:spPr>
          <a:xfrm>
            <a:off x="502920" y="193852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i="1" dirty="0">
                <a:solidFill>
                  <a:srgbClr val="E9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RAG-Based Greenwashing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100" i="1" dirty="0">
                <a:solidFill>
                  <a:srgbClr val="E9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System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30352" y="3017520"/>
            <a:ext cx="1371600" cy="0"/>
          </a:xfrm>
          <a:prstGeom prst="line">
            <a:avLst/>
          </a:prstGeom>
          <a:noFill/>
          <a:ln w="31750">
            <a:solidFill>
              <a:srgbClr val="97BC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2461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A9B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9B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  ·  SEPP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9B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434340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72" y="4443252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4343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verdicts · Not black-box opinions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Unverifiable Green Claims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GreenClaim AI  ·  SEPP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2104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827" y="1403787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2344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claims, weak proof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154533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Corporations announce “carbon neutral” and “net-zero” targets faster than anyone can verify them.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450592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27" y="2574219"/>
            <a:ext cx="228234" cy="2282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4048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doesn’t scale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143000" y="271576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even one claim means cross-reading 100+ page ESG / BRSR disclosures.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3621024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27" y="3744651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5753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LLM isn’t the answer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143000" y="38862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LLM answers are ungrounded — confident, plausible, and sometimes hallucinated.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532120" y="1188720"/>
            <a:ext cx="3154680" cy="338328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80644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KEEP HEARING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806440" y="1828800"/>
            <a:ext cx="2606040" cy="457200"/>
          </a:xfrm>
          <a:prstGeom prst="rect">
            <a:avLst/>
          </a:prstGeom>
          <a:solidFill>
            <a:srgbClr val="16301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80644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9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“Carbon neutral since 2023”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806440" y="2450592"/>
            <a:ext cx="2606040" cy="457200"/>
          </a:xfrm>
          <a:prstGeom prst="rect">
            <a:avLst/>
          </a:prstGeom>
          <a:solidFill>
            <a:srgbClr val="16301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806440" y="24505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9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“100% recyclable packaging”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806440" y="3072384"/>
            <a:ext cx="2606040" cy="457200"/>
          </a:xfrm>
          <a:prstGeom prst="rect">
            <a:avLst/>
          </a:prstGeom>
          <a:solidFill>
            <a:srgbClr val="16301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806440" y="307238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9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“Net-zero by 2050”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806440" y="38039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who actually checks them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source reports?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Solution: GreenClaim AI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GreenClaim AI  ·  SEPP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2104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evidence-grounded RAG system that treats every green claim as a claim — and demands receipts.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trusting a language model’s opinion, the system retrieves what the company actually disclosed, compares it with the claim, and explains its verdict with page-level citations.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188720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188720"/>
            <a:ext cx="64008" cy="10241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4681728" y="144475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4865" y="1577889"/>
            <a:ext cx="245791" cy="2457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76672" y="1316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376672" y="1600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&amp; contradicting evidence pulled from the company’s own ESG reports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34840" y="2395728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2395728"/>
            <a:ext cx="64008" cy="10241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Shape 12"/>
          <p:cNvSpPr/>
          <p:nvPr/>
        </p:nvSpPr>
        <p:spPr>
          <a:xfrm>
            <a:off x="4681728" y="2651760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865" y="2784897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76672" y="2523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5376672" y="28072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weighed against retrieved passages — not against the model’s memory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434840" y="3602736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434840" y="3602736"/>
            <a:ext cx="64008" cy="10241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1" name="Shape 17"/>
          <p:cNvSpPr/>
          <p:nvPr/>
        </p:nvSpPr>
        <p:spPr>
          <a:xfrm>
            <a:off x="4681728" y="3858768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865" y="3991905"/>
            <a:ext cx="245791" cy="24579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76672" y="3730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5376672" y="40142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Greenwashing Risk Score (0–100) with page-level citations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GreenClaim AI  ·  SEPP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2104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17904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1572768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21214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Input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633472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public green claim, pasted or picked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88820" y="2354580"/>
            <a:ext cx="11430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16836" y="1371600"/>
            <a:ext cx="1517904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6332" y="1572768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265633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189988" y="21214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Evidence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08276" y="2633472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ChromaDB, filtered by company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48456" y="2354580"/>
            <a:ext cx="11430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76472" y="1371600"/>
            <a:ext cx="1517904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15968" y="1572768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431596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849624" y="21214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867912" y="2633472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vs. retrieved passages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08092" y="2354580"/>
            <a:ext cx="11430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36108" y="1371600"/>
            <a:ext cx="1517904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75604" y="1572768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5975604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509260" y="21214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Analysis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527548" y="2633472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&amp; explains the verdict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67728" y="2354580"/>
            <a:ext cx="11430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95744" y="1371600"/>
            <a:ext cx="1517904" cy="1965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35240" y="1572768"/>
            <a:ext cx="438912" cy="43891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1" name="Text 29"/>
          <p:cNvSpPr/>
          <p:nvPr/>
        </p:nvSpPr>
        <p:spPr>
          <a:xfrm>
            <a:off x="763524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D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168896" y="21214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187184" y="2633472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9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explanation + citations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DCE8C8"/>
          </a:solidFill>
          <a:ln/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005072"/>
            <a:ext cx="274320" cy="2743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43000" y="3794760"/>
            <a:ext cx="736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filtered by company. </a:t>
            </a:r>
            <a:pPr indent="0" marL="0">
              <a:buNone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Steel queries only ever retrieve Tata Steel’s disclosures — no cross-contamination between similar companies.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Modules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GreenClaim AI  ·  SEPP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2104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8833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16276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53312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1462674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37160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187452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 PDFs → clean text → chunks → embeddings (pypdf + Sentence Transformers)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10712" y="1188720"/>
            <a:ext cx="268833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10712" y="1188720"/>
            <a:ext cx="64008" cy="16276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Shape 10"/>
          <p:cNvSpPr/>
          <p:nvPr/>
        </p:nvSpPr>
        <p:spPr>
          <a:xfrm>
            <a:off x="3593592" y="1353312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954" y="1462674"/>
            <a:ext cx="201900" cy="201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23944" y="137160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611880" y="187452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Company-filtered vector search — prevents cross-contamination between similar companies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364224" y="1188720"/>
            <a:ext cx="268833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64224" y="1188720"/>
            <a:ext cx="64008" cy="16276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Shape 15"/>
          <p:cNvSpPr/>
          <p:nvPr/>
        </p:nvSpPr>
        <p:spPr>
          <a:xfrm>
            <a:off x="6547104" y="1353312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466" y="1462674"/>
            <a:ext cx="201900" cy="201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77456" y="137160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Classification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565392" y="187452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/ Partially Supporting / Contradicting / Insufficient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920240" y="3063240"/>
            <a:ext cx="268833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920240" y="3063240"/>
            <a:ext cx="64008" cy="16276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5" name="Shape 20"/>
          <p:cNvSpPr/>
          <p:nvPr/>
        </p:nvSpPr>
        <p:spPr>
          <a:xfrm>
            <a:off x="2103120" y="3227832"/>
            <a:ext cx="420624" cy="420624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482" y="3337194"/>
            <a:ext cx="201900" cy="2019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633472" y="324612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Engine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2121408" y="374904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factors combine into a single 0–100 Greenwashing Risk Score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873752" y="3063240"/>
            <a:ext cx="268833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873752" y="3063240"/>
            <a:ext cx="64008" cy="16276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Shape 25"/>
          <p:cNvSpPr/>
          <p:nvPr/>
        </p:nvSpPr>
        <p:spPr>
          <a:xfrm>
            <a:off x="5056632" y="3227832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5994" y="3337194"/>
            <a:ext cx="201900" cy="2019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586984" y="324612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Output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5074920" y="374904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carries page-level citations back to the source filing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 Categories Covered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GreenClaim AI  ·  SEPP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2104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starting scope — three categories done deeply, not every category at once.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88336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2688336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Shape 6"/>
          <p:cNvSpPr/>
          <p:nvPr/>
        </p:nvSpPr>
        <p:spPr>
          <a:xfrm>
            <a:off x="1545336" y="181051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473" y="1943649"/>
            <a:ext cx="245791" cy="2457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39572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" y="288036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Carbon-neutral claims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Net-zero commitments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Emissions-reduction progress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10712" y="1554480"/>
            <a:ext cx="2688336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10712" y="1554480"/>
            <a:ext cx="2688336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Shape 11"/>
          <p:cNvSpPr/>
          <p:nvPr/>
        </p:nvSpPr>
        <p:spPr>
          <a:xfrm>
            <a:off x="4498848" y="181051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985" y="1943649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10712" y="239572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730752" y="288036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 packaging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Zero-waste operations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Circularity claims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364224" y="1554480"/>
            <a:ext cx="2688336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64224" y="1554480"/>
            <a:ext cx="2688336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Shape 16"/>
          <p:cNvSpPr/>
          <p:nvPr/>
        </p:nvSpPr>
        <p:spPr>
          <a:xfrm>
            <a:off x="7452360" y="181051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497" y="1943649"/>
            <a:ext cx="245791" cy="24579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4224" y="239572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684264" y="288036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Renewable-energy usage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Clean-energy transition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power sourcing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GreenClaim AI  ·  SEPP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2104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8833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42" y="1526682"/>
            <a:ext cx="201900" cy="20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43560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19842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claim-checking interface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0712" y="1234440"/>
            <a:ext cx="268833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93592" y="14173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954" y="1526682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23944" y="143560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11880" y="19842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orchestration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64224" y="1234440"/>
            <a:ext cx="268833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47104" y="14173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466" y="1526682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77456" y="143560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565392" y="19842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sentence embeddings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2990088"/>
            <a:ext cx="268833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317296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42" y="3282330"/>
            <a:ext cx="201900" cy="201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70432" y="319125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58368" y="373989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with company metadata filtering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410712" y="2990088"/>
            <a:ext cx="268833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593592" y="317296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2954" y="3282330"/>
            <a:ext cx="201900" cy="2019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123944" y="319125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gpt-oss-120b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611880" y="373989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LLM for analysis and verdicts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364224" y="2990088"/>
            <a:ext cx="268833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547104" y="317296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466" y="3282330"/>
            <a:ext cx="201900" cy="2019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77456" y="319125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565392" y="373989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from BRSR PDF filings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locally except the LLM call — the knowledge base is fully reproducible.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Base: Real BRSR Filings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GreenClaim AI  ·  SEPP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2104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468880" cy="34290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630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NSE-listed companies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34440" y="3127248"/>
            <a:ext cx="9144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91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9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 filings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9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2025–26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0416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A9B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Primary, audited source — not marketing pages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46120" y="11887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&amp; CONSUMER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517904"/>
            <a:ext cx="461772" cy="310896"/>
          </a:xfrm>
          <a:prstGeom prst="roundRect">
            <a:avLst>
              <a:gd name="adj" fmla="val 17647"/>
            </a:avLst>
          </a:prstGeom>
          <a:solidFill>
            <a:srgbClr val="DCE8C8"/>
          </a:solidFill>
          <a:ln w="12700">
            <a:solidFill>
              <a:srgbClr val="DCE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517904"/>
            <a:ext cx="461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17620" y="1517904"/>
            <a:ext cx="1490472" cy="310896"/>
          </a:xfrm>
          <a:prstGeom prst="roundRect">
            <a:avLst>
              <a:gd name="adj" fmla="val 17647"/>
            </a:avLst>
          </a:prstGeom>
          <a:solidFill>
            <a:srgbClr val="DCE8C8"/>
          </a:solidFill>
          <a:ln w="12700">
            <a:solidFill>
              <a:srgbClr val="DCE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7620" y="1517904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Hindustan Unilever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17820" y="1517904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DCE8C8"/>
          </a:solidFill>
          <a:ln w="12700">
            <a:solidFill>
              <a:srgbClr val="DCE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7820" y="1517904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Britannia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517904"/>
            <a:ext cx="598932" cy="310896"/>
          </a:xfrm>
          <a:prstGeom prst="roundRect">
            <a:avLst>
              <a:gd name="adj" fmla="val 17647"/>
            </a:avLst>
          </a:prstGeom>
          <a:solidFill>
            <a:srgbClr val="DCE8C8"/>
          </a:solidFill>
          <a:ln w="12700">
            <a:solidFill>
              <a:srgbClr val="DCE8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517904"/>
            <a:ext cx="5989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09460" y="1517904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DCE8C8"/>
          </a:solidFill>
          <a:ln w="12700">
            <a:solidFill>
              <a:srgbClr val="DCE8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09460" y="151790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Paints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20848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POWER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46120" y="2414016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DCE8C8"/>
          </a:solidFill>
          <a:ln w="12700">
            <a:solidFill>
              <a:srgbClr val="DCE8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41401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86200" y="2414016"/>
            <a:ext cx="1421892" cy="310896"/>
          </a:xfrm>
          <a:prstGeom prst="roundRect">
            <a:avLst>
              <a:gd name="adj" fmla="val 17647"/>
            </a:avLst>
          </a:prstGeom>
          <a:solidFill>
            <a:srgbClr val="DCE8C8"/>
          </a:solidFill>
          <a:ln w="12700">
            <a:solidFill>
              <a:srgbClr val="DCE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2414016"/>
            <a:ext cx="14218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NTPC Green Energy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17820" y="2414016"/>
            <a:ext cx="1490472" cy="310896"/>
          </a:xfrm>
          <a:prstGeom prst="roundRect">
            <a:avLst>
              <a:gd name="adj" fmla="val 17647"/>
            </a:avLst>
          </a:prstGeom>
          <a:solidFill>
            <a:srgbClr val="DCE8C8"/>
          </a:solidFill>
          <a:ln w="12700">
            <a:solidFill>
              <a:srgbClr val="DCE8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7820" y="2414016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Adani Green Energy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18020" y="2414016"/>
            <a:ext cx="1010412" cy="310896"/>
          </a:xfrm>
          <a:prstGeom prst="roundRect">
            <a:avLst>
              <a:gd name="adj" fmla="val 17647"/>
            </a:avLst>
          </a:prstGeom>
          <a:solidFill>
            <a:srgbClr val="DCE8C8"/>
          </a:solidFill>
          <a:ln w="12700">
            <a:solidFill>
              <a:srgbClr val="DCE8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8020" y="2414016"/>
            <a:ext cx="10104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Adani Power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2816352"/>
            <a:ext cx="941832" cy="310896"/>
          </a:xfrm>
          <a:prstGeom prst="roundRect">
            <a:avLst>
              <a:gd name="adj" fmla="val 17647"/>
            </a:avLst>
          </a:prstGeom>
          <a:solidFill>
            <a:srgbClr val="DCE8C8"/>
          </a:solidFill>
          <a:ln w="12700">
            <a:solidFill>
              <a:srgbClr val="DCE8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2816352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97680" y="2816352"/>
            <a:ext cx="941832" cy="310896"/>
          </a:xfrm>
          <a:prstGeom prst="roundRect">
            <a:avLst>
              <a:gd name="adj" fmla="val 17647"/>
            </a:avLst>
          </a:prstGeom>
          <a:solidFill>
            <a:srgbClr val="DCE8C8"/>
          </a:solidFill>
          <a:ln w="12700">
            <a:solidFill>
              <a:srgbClr val="DCE8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2816352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India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46120" y="33832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METALS, CEMENT &amp; DIVERSIFIED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46120" y="3712464"/>
            <a:ext cx="941832" cy="310896"/>
          </a:xfrm>
          <a:prstGeom prst="roundRect">
            <a:avLst>
              <a:gd name="adj" fmla="val 17647"/>
            </a:avLst>
          </a:prstGeom>
          <a:solidFill>
            <a:srgbClr val="DCE8C8"/>
          </a:solidFill>
          <a:ln w="12700">
            <a:solidFill>
              <a:srgbClr val="DCE8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3712464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Steel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97680" y="3712464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DCE8C8"/>
          </a:solidFill>
          <a:ln w="12700">
            <a:solidFill>
              <a:srgbClr val="DCE8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3712464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JSW Steel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80660" y="3712464"/>
            <a:ext cx="1353312" cy="310896"/>
          </a:xfrm>
          <a:prstGeom prst="roundRect">
            <a:avLst>
              <a:gd name="adj" fmla="val 17647"/>
            </a:avLst>
          </a:prstGeom>
          <a:solidFill>
            <a:srgbClr val="DCE8C8"/>
          </a:solidFill>
          <a:ln w="12700">
            <a:solidFill>
              <a:srgbClr val="DCE8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80660" y="371246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UltraTech Cement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43700" y="3712464"/>
            <a:ext cx="1559052" cy="310896"/>
          </a:xfrm>
          <a:prstGeom prst="roundRect">
            <a:avLst>
              <a:gd name="adj" fmla="val 17647"/>
            </a:avLst>
          </a:prstGeom>
          <a:solidFill>
            <a:srgbClr val="DCE8C8"/>
          </a:solidFill>
          <a:ln w="12700">
            <a:solidFill>
              <a:srgbClr val="DCE8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43700" y="3712464"/>
            <a:ext cx="15590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46120" y="431596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spans heavy industry to FMCG — sectors with very different disclosure styles.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Greenwashing Risk Score (0–100)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GreenClaim AI  ·  SEPP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2104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 factors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807" y="1677375"/>
            <a:ext cx="193121" cy="1931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5453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Strength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05840" y="18105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directly retrieved passages bear on the claim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359152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07" y="2463759"/>
            <a:ext cx="193121" cy="1931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331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Specificity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005840" y="25968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claims score riskier than measurable ones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45536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7" y="3250143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3118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Reliability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005840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disclosure vs. marketing material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93192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807" y="4036527"/>
            <a:ext cx="193121" cy="19312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5840" y="3904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Contradictory Evidence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005840" y="41696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data pushes the score upward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800600" y="1143000"/>
            <a:ext cx="3886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507492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Interpretation bands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074920" y="1828800"/>
            <a:ext cx="960120" cy="5120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5" name="Text 19"/>
          <p:cNvSpPr/>
          <p:nvPr/>
        </p:nvSpPr>
        <p:spPr>
          <a:xfrm>
            <a:off x="5074920" y="1828800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217920" y="18105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well supported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5074920" y="2487168"/>
            <a:ext cx="960120" cy="512064"/>
          </a:xfrm>
          <a:prstGeom prst="rect">
            <a:avLst/>
          </a:prstGeom>
          <a:solidFill>
            <a:srgbClr val="D9A62E"/>
          </a:solidFill>
          <a:ln/>
        </p:spPr>
      </p:sp>
      <p:sp>
        <p:nvSpPr>
          <p:cNvPr id="28" name="Text 22"/>
          <p:cNvSpPr/>
          <p:nvPr/>
        </p:nvSpPr>
        <p:spPr>
          <a:xfrm>
            <a:off x="5074920" y="2487168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26–50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217920" y="24688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or vague support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5074920" y="3145536"/>
            <a:ext cx="960120" cy="512064"/>
          </a:xfrm>
          <a:prstGeom prst="rect">
            <a:avLst/>
          </a:prstGeom>
          <a:solidFill>
            <a:srgbClr val="C96F2B"/>
          </a:solidFill>
          <a:ln/>
        </p:spPr>
      </p:sp>
      <p:sp>
        <p:nvSpPr>
          <p:cNvPr id="31" name="Text 25"/>
          <p:cNvSpPr/>
          <p:nvPr/>
        </p:nvSpPr>
        <p:spPr>
          <a:xfrm>
            <a:off x="5074920" y="3145536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51–75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6217920" y="31272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or contradictory evidence</a:t>
            </a:r>
            <a:endParaRPr lang="en-US" sz="1350" dirty="0"/>
          </a:p>
        </p:txBody>
      </p:sp>
      <p:sp>
        <p:nvSpPr>
          <p:cNvPr id="33" name="Shape 27"/>
          <p:cNvSpPr/>
          <p:nvPr/>
        </p:nvSpPr>
        <p:spPr>
          <a:xfrm>
            <a:off x="5074920" y="3803904"/>
            <a:ext cx="960120" cy="512064"/>
          </a:xfrm>
          <a:prstGeom prst="rect">
            <a:avLst/>
          </a:prstGeom>
          <a:solidFill>
            <a:srgbClr val="B3402A"/>
          </a:solidFill>
          <a:ln/>
        </p:spPr>
      </p:sp>
      <p:sp>
        <p:nvSpPr>
          <p:cNvPr id="34" name="Text 28"/>
          <p:cNvSpPr/>
          <p:nvPr/>
        </p:nvSpPr>
        <p:spPr>
          <a:xfrm>
            <a:off x="5074920" y="380390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76–100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6217920" y="378561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greenwashing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5074920" y="433425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generated by the LLM from the evidence factors — and always shown with its citations.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Test: Tata Steel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371600"/>
          </a:xfrm>
          <a:prstGeom prst="rect">
            <a:avLst/>
          </a:prstGeom>
          <a:solidFill>
            <a:srgbClr val="16301A"/>
          </a:solidFill>
          <a:ln w="15875">
            <a:solidFill>
              <a:srgbClr val="B340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8132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“Already carbon-neutral with near-zero Scope 1 emissions”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1762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9B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 discloses only a 2045 Net-Zero commitment — not present-day neutrality. Verdict traced to cited pages.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691640"/>
            <a:ext cx="2011680" cy="566928"/>
          </a:xfrm>
          <a:prstGeom prst="rect">
            <a:avLst/>
          </a:prstGeom>
          <a:solidFill>
            <a:srgbClr val="B340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691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8229600" cy="1371600"/>
          </a:xfrm>
          <a:prstGeom prst="rect">
            <a:avLst/>
          </a:prstGeom>
          <a:solidFill>
            <a:srgbClr val="16301A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3580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“Has committed to net-zero operations by 2045”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37307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9B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company, rephrased to match the actual disclosure — and the system confirms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3246120"/>
            <a:ext cx="2011680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2461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1E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5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498848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" y="4462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reasons over evidence — it doesn’t just default to “risky”.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RAG, Not a Plain LLM?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GreenClaim AI  ·  SEPP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2104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86200" cy="3383280"/>
          </a:xfrm>
          <a:prstGeom prst="rect">
            <a:avLst/>
          </a:prstGeom>
          <a:solidFill>
            <a:srgbClr val="F0EEE6"/>
          </a:solidFill>
          <a:ln w="12700">
            <a:solidFill>
              <a:srgbClr val="E0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3886200" cy="566928"/>
          </a:xfrm>
          <a:prstGeom prst="rect">
            <a:avLst/>
          </a:prstGeom>
          <a:solidFill>
            <a:srgbClr val="8A857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LLM, no retrieval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✖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hallucinate — invent facts with total confidence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✖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“Sounds right” is not the same as “is right”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✖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traceability: the verdict can’t be checked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✖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opinion, not an audit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3886200" cy="338328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34440"/>
            <a:ext cx="3886200" cy="566928"/>
          </a:xfrm>
          <a:prstGeom prst="rect">
            <a:avLst/>
          </a:prstGeom>
          <a:solidFill>
            <a:srgbClr val="16301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344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GreenClaim AI (RAG)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201168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✔"/>
            </a:pPr>
            <a:r>
              <a:rPr lang="en-US" sz="1250" dirty="0">
                <a:solidFill>
                  <a:srgbClr val="E9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traces back to a specific retrieved passage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✔"/>
            </a:pPr>
            <a:r>
              <a:rPr lang="en-US" sz="1250" dirty="0">
                <a:solidFill>
                  <a:srgbClr val="E9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are surfaced, not smoothed over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✔"/>
            </a:pPr>
            <a:r>
              <a:rPr lang="en-US" sz="1250" dirty="0">
                <a:solidFill>
                  <a:srgbClr val="E9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auditable, with page-level citations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✔"/>
            </a:pPr>
            <a:r>
              <a:rPr lang="en-US" sz="1250" dirty="0">
                <a:solidFill>
                  <a:srgbClr val="E9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Company-filtered retrieval keeps evidence relevant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Angle (IEEE Track)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GreenClaim AI  ·  SEPP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2104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60120"/>
          </a:xfrm>
          <a:prstGeom prst="rect">
            <a:avLst/>
          </a:prstGeom>
          <a:solidFill>
            <a:srgbClr val="DCE8C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 </a:t>
            </a:r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evidence-grounded, company-filtered RAG improve accuracy and explainability over a no-retrieval LLM baseline?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CD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LLM-only baseline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35478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no retrieval — measures hallucination risk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80944" y="3355848"/>
            <a:ext cx="301752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37560" y="2514600"/>
            <a:ext cx="2468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204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CD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2044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20440" y="35478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added — measures grounding benefit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61304" y="3355848"/>
            <a:ext cx="301752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17920" y="2514600"/>
            <a:ext cx="2468880" cy="1691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Company-filtered RAG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0" y="35478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9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 — filtered, auditable, sector-aware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52360" y="265176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360" y="2651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3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evaluation: same claim set across all three setups, compared on verdict accuracy and citation quality.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GreenClaim AI  ·  SEPP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2104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86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3383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✔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prototype: claim in → cited verdict out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✔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claim categories: climate, waste, energy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✔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15-company BRSR knowledge base (FY 2025–26)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✔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the Tata Steel case study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3886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6"/>
            </a:solidFill>
            <a:prstDash val="solid"/>
          </a:ln>
          <a:effectLst>
            <a:outerShdw sx="100000" sy="100000" kx="0" ky="0" algn="bl" rotWithShape="0" blurRad="88900" dist="25400" dir="8100000">
              <a:srgbClr val="1E3D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34440"/>
            <a:ext cx="64008" cy="3383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4920" y="1874520"/>
            <a:ext cx="365760" cy="365760"/>
          </a:xfrm>
          <a:prstGeom prst="ellipse">
            <a:avLst/>
          </a:prstGeom>
          <a:solidFill>
            <a:srgbClr val="DCE8C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0018" y="1969618"/>
            <a:ext cx="175565" cy="17556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77840" y="18379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categories: water usage, product-level claims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74920" y="2560320"/>
            <a:ext cx="365760" cy="365760"/>
          </a:xfrm>
          <a:prstGeom prst="ellipse">
            <a:avLst/>
          </a:prstGeom>
          <a:solidFill>
            <a:srgbClr val="DCE8C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018" y="2655418"/>
            <a:ext cx="175565" cy="17556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77840" y="25237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+ reranking for harder queries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074920" y="3246120"/>
            <a:ext cx="365760" cy="365760"/>
          </a:xfrm>
          <a:prstGeom prst="ellipse">
            <a:avLst/>
          </a:prstGeom>
          <a:solidFill>
            <a:srgbClr val="DCE8C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018" y="3341218"/>
            <a:ext cx="175565" cy="17556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77840" y="32095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evaluation dataset for accuracy benchmarks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074920" y="3931920"/>
            <a:ext cx="365760" cy="365760"/>
          </a:xfrm>
          <a:prstGeom prst="ellipse">
            <a:avLst/>
          </a:prstGeom>
          <a:solidFill>
            <a:srgbClr val="DCE8C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0018" y="4027018"/>
            <a:ext cx="175565" cy="17556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8953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Cross-company trend analysis across sectors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91440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0326" y="105704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886200" y="3383280"/>
            <a:ext cx="13716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·  [College Name]  ·  SEPP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9B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GreenClaim AI — every verdict backed by evidence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GreenClaim AI — RAG-Based Greenwashing Detection System</dc:title>
  <dc:subject>PptxGenJS Presentation</dc:subject>
  <dc:creator>GreenClaim AI Team</dc:creator>
  <cp:lastModifiedBy>GreenClaim AI Team</cp:lastModifiedBy>
  <cp:revision>1</cp:revision>
  <dcterms:created xsi:type="dcterms:W3CDTF">2026-09-23T07:02:19Z</dcterms:created>
  <dcterms:modified xsi:type="dcterms:W3CDTF">2026-09-23T07:02:19Z</dcterms:modified>
</cp:coreProperties>
</file>